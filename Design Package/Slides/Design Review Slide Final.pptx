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  <p:sldMasterId id="21474837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IBM Plex Sans Light"/>
      <p:regular r:id="rId29"/>
      <p:bold r:id="rId30"/>
      <p:italic r:id="rId31"/>
      <p:boldItalic r:id="rId32"/>
    </p:embeddedFont>
    <p:embeddedFont>
      <p:font typeface="IBM Plex Sans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EC4800-F719-488D-8670-2445DFA57EAC}">
  <a:tblStyle styleId="{9FEC4800-F719-488D-8670-2445DFA57E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BMPlexSansLight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SansLight-italic.fntdata"/><Relationship Id="rId30" Type="http://schemas.openxmlformats.org/officeDocument/2006/relationships/font" Target="fonts/IBMPlexSansLight-bold.fntdata"/><Relationship Id="rId11" Type="http://schemas.openxmlformats.org/officeDocument/2006/relationships/slide" Target="slides/slide4.xml"/><Relationship Id="rId33" Type="http://schemas.openxmlformats.org/officeDocument/2006/relationships/font" Target="fonts/IBMPlexSansMedium-regular.fntdata"/><Relationship Id="rId10" Type="http://schemas.openxmlformats.org/officeDocument/2006/relationships/slide" Target="slides/slide3.xml"/><Relationship Id="rId32" Type="http://schemas.openxmlformats.org/officeDocument/2006/relationships/font" Target="fonts/IBMPlexSansLight-boldItalic.fntdata"/><Relationship Id="rId13" Type="http://schemas.openxmlformats.org/officeDocument/2006/relationships/slide" Target="slides/slide6.xml"/><Relationship Id="rId35" Type="http://schemas.openxmlformats.org/officeDocument/2006/relationships/font" Target="fonts/IBMPlexSansMedium-italic.fntdata"/><Relationship Id="rId12" Type="http://schemas.openxmlformats.org/officeDocument/2006/relationships/slide" Target="slides/slide5.xml"/><Relationship Id="rId34" Type="http://schemas.openxmlformats.org/officeDocument/2006/relationships/font" Target="fonts/IBMPlexSansMedium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IBMPlexSansMedium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53a072254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53a072254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5585086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5585086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55850861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55850861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55850861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d5585086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55850861e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55850861e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55850861e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55850861e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55850861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55850861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55850861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d55850861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55850861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55850861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55850861e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d55850861e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55850861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d55850861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55850861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d55850861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d55850861e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d55850861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d55850861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d55850861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d55850861e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d55850861e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d55850861e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d55850861e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d55850861e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d55850861e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7" name="Google Shape;57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8" name="Google Shape;58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" name="Google Shape;97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9" name="Google Shape;139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46" name="Google Shape;146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1" name="Google Shape;161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2" name="Google Shape;172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79" name="Google Shape;179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7" name="Google Shape;187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1" name="Google Shape;191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6" name="Google Shape;196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7" name="Google Shape;197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7" name="Google Shape;237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8" name="Google Shape;238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1" name="Google Shape;251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4" name="Google Shape;264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8" name="Google Shape;288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1" name="Google Shape;301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44" name="Google Shape;344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45" name="Google Shape;345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57" name="Google Shape;357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63" name="Google Shape;363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9" name="Google Shape;369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2" name="Google Shape;372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73" name="Google Shape;373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76" name="Google Shape;376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81" name="Google Shape;3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2" name="Google Shape;42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0" name="Google Shape;44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0" name="Google Shape;46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5"/>
          <p:cNvSpPr txBox="1"/>
          <p:nvPr>
            <p:ph idx="1" type="subTitle"/>
          </p:nvPr>
        </p:nvSpPr>
        <p:spPr>
          <a:xfrm>
            <a:off x="765300" y="3714550"/>
            <a:ext cx="4778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Christina Walker, Diego Cummins, Jessy Pena, Jose Aguirre, Noah Schatz</a:t>
            </a:r>
            <a:endParaRPr sz="1200"/>
          </a:p>
        </p:txBody>
      </p:sp>
      <p:sp>
        <p:nvSpPr>
          <p:cNvPr id="485" name="Google Shape;485;p5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April 10th, 2026</a:t>
            </a:r>
            <a:endParaRPr sz="1200"/>
          </a:p>
        </p:txBody>
      </p:sp>
      <p:sp>
        <p:nvSpPr>
          <p:cNvPr id="486" name="Google Shape;486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5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 txBox="1"/>
          <p:nvPr>
            <p:ph idx="1" type="subTitle"/>
          </p:nvPr>
        </p:nvSpPr>
        <p:spPr>
          <a:xfrm>
            <a:off x="6587825" y="611825"/>
            <a:ext cx="2423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Christina Walker</a:t>
            </a:r>
            <a:endParaRPr sz="1800"/>
          </a:p>
        </p:txBody>
      </p:sp>
      <p:sp>
        <p:nvSpPr>
          <p:cNvPr id="493" name="Google Shape;493;p56"/>
          <p:cNvSpPr txBox="1"/>
          <p:nvPr>
            <p:ph type="title"/>
          </p:nvPr>
        </p:nvSpPr>
        <p:spPr>
          <a:xfrm>
            <a:off x="6587814" y="932734"/>
            <a:ext cx="2232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Data Acquisition</a:t>
            </a:r>
            <a:endParaRPr/>
          </a:p>
        </p:txBody>
      </p:sp>
      <p:sp>
        <p:nvSpPr>
          <p:cNvPr id="494" name="Google Shape;494;p56"/>
          <p:cNvSpPr txBox="1"/>
          <p:nvPr>
            <p:ph idx="2" type="subTitle"/>
          </p:nvPr>
        </p:nvSpPr>
        <p:spPr>
          <a:xfrm>
            <a:off x="6458825" y="1381900"/>
            <a:ext cx="2504100" cy="36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Primary Responsibility: Developing  data acquisition and logging system</a:t>
            </a:r>
            <a:endParaRPr sz="11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</a:t>
            </a:r>
            <a:r>
              <a:rPr lang="en" sz="1200"/>
              <a:t>ole in the project:</a:t>
            </a:r>
            <a:endParaRPr sz="12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Data logging system for speaker, microphone, and LEDs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Monitoring of sound and light outputs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System safety, testing, and validation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Contributions I’ve made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Data acquisition for microphone input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Real-time sound level logging system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Tested speaker and LEDS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5" name="Google Shape;495;p5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5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Christina Walker</a:t>
            </a:r>
            <a:endParaRPr/>
          </a:p>
        </p:txBody>
      </p:sp>
      <p:sp>
        <p:nvSpPr>
          <p:cNvPr id="497" name="Google Shape;497;p5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Zeus Development Group</a:t>
            </a:r>
            <a:endParaRPr sz="1100"/>
          </a:p>
        </p:txBody>
      </p:sp>
      <p:cxnSp>
        <p:nvCxnSpPr>
          <p:cNvPr id="498" name="Google Shape;498;p56"/>
          <p:cNvCxnSpPr/>
          <p:nvPr/>
        </p:nvCxnSpPr>
        <p:spPr>
          <a:xfrm>
            <a:off x="6396700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99" name="Google Shape;499;p56" title="Softwar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1825"/>
            <a:ext cx="2910900" cy="2422200"/>
          </a:xfrm>
          <a:prstGeom prst="roundRect">
            <a:avLst>
              <a:gd fmla="val 10867" name="adj"/>
            </a:avLst>
          </a:prstGeom>
          <a:noFill/>
          <a:ln>
            <a:noFill/>
          </a:ln>
        </p:spPr>
      </p:pic>
      <p:pic>
        <p:nvPicPr>
          <p:cNvPr id="500" name="Google Shape;500;p56" title="Software Diagram.png"/>
          <p:cNvPicPr preferRelativeResize="0"/>
          <p:nvPr/>
        </p:nvPicPr>
        <p:blipFill rotWithShape="1">
          <a:blip r:embed="rId3">
            <a:alphaModFix/>
          </a:blip>
          <a:srcRect b="0" l="28602" r="0" t="52550"/>
          <a:stretch/>
        </p:blipFill>
        <p:spPr>
          <a:xfrm>
            <a:off x="3509025" y="3619050"/>
            <a:ext cx="2668800" cy="1397400"/>
          </a:xfrm>
          <a:prstGeom prst="roundRect">
            <a:avLst>
              <a:gd fmla="val 108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1" name="Google Shape;501;p56"/>
          <p:cNvSpPr/>
          <p:nvPr/>
        </p:nvSpPr>
        <p:spPr>
          <a:xfrm>
            <a:off x="1003775" y="1801500"/>
            <a:ext cx="2059500" cy="121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02" name="Google Shape;502;p56"/>
          <p:cNvCxnSpPr/>
          <p:nvPr/>
        </p:nvCxnSpPr>
        <p:spPr>
          <a:xfrm>
            <a:off x="1123125" y="3000125"/>
            <a:ext cx="2463600" cy="2030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56"/>
          <p:cNvCxnSpPr/>
          <p:nvPr/>
        </p:nvCxnSpPr>
        <p:spPr>
          <a:xfrm>
            <a:off x="2946875" y="1824350"/>
            <a:ext cx="3174000" cy="180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7"/>
          <p:cNvSpPr txBox="1"/>
          <p:nvPr>
            <p:ph type="title"/>
          </p:nvPr>
        </p:nvSpPr>
        <p:spPr>
          <a:xfrm>
            <a:off x="436725" y="647516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did:</a:t>
            </a:r>
            <a:endParaRPr/>
          </a:p>
        </p:txBody>
      </p:sp>
      <p:sp>
        <p:nvSpPr>
          <p:cNvPr id="509" name="Google Shape;509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5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Christina Walker</a:t>
            </a:r>
            <a:endParaRPr sz="1200"/>
          </a:p>
        </p:txBody>
      </p:sp>
      <p:sp>
        <p:nvSpPr>
          <p:cNvPr id="511" name="Google Shape;511;p5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graphicFrame>
        <p:nvGraphicFramePr>
          <p:cNvPr id="512" name="Google Shape;512;p57"/>
          <p:cNvGraphicFramePr/>
          <p:nvPr/>
        </p:nvGraphicFramePr>
        <p:xfrm>
          <a:off x="480150" y="167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{9FEC4800-F719-488D-8670-2445DFA57EAC}</a:tableStyleId>
              </a:tblPr>
              <a:tblGrid>
                <a:gridCol w="2045925"/>
                <a:gridCol w="2045925"/>
                <a:gridCol w="2045925"/>
                <a:gridCol w="2045925"/>
              </a:tblGrid>
              <a:tr h="330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COMPLETED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IN PROGRESS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NOT STARTED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588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Data logging system for speaker, microphone, and LED outputs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4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Integrate sensor data with microcontroller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8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Basic data storage/logging functionality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6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Support system testing and validation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3" name="Google Shape;513;p57"/>
          <p:cNvSpPr/>
          <p:nvPr/>
        </p:nvSpPr>
        <p:spPr>
          <a:xfrm>
            <a:off x="3440025" y="366147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4" name="Google Shape;514;p57"/>
          <p:cNvSpPr txBox="1"/>
          <p:nvPr>
            <p:ph idx="4294967295" type="subTitle"/>
          </p:nvPr>
        </p:nvSpPr>
        <p:spPr>
          <a:xfrm>
            <a:off x="4571850" y="21702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0%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5" name="Google Shape;515;p57"/>
          <p:cNvSpPr txBox="1"/>
          <p:nvPr>
            <p:ph idx="4294967295" type="subTitle"/>
          </p:nvPr>
        </p:nvSpPr>
        <p:spPr>
          <a:xfrm>
            <a:off x="4571850" y="28659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45</a:t>
            </a: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6" name="Google Shape;516;p57"/>
          <p:cNvSpPr txBox="1"/>
          <p:nvPr>
            <p:ph idx="4294967295" type="subTitle"/>
          </p:nvPr>
        </p:nvSpPr>
        <p:spPr>
          <a:xfrm>
            <a:off x="4571850" y="4280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7" name="Google Shape;517;p57"/>
          <p:cNvSpPr txBox="1"/>
          <p:nvPr>
            <p:ph idx="4294967295" type="subTitle"/>
          </p:nvPr>
        </p:nvSpPr>
        <p:spPr>
          <a:xfrm>
            <a:off x="2526075" y="2170200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8" name="Google Shape;518;p57"/>
          <p:cNvSpPr txBox="1"/>
          <p:nvPr>
            <p:ph idx="4294967295" type="subTitle"/>
          </p:nvPr>
        </p:nvSpPr>
        <p:spPr>
          <a:xfrm>
            <a:off x="2526075" y="2865900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9" name="Google Shape;519;p57"/>
          <p:cNvSpPr txBox="1"/>
          <p:nvPr>
            <p:ph idx="4294967295" type="subTitle"/>
          </p:nvPr>
        </p:nvSpPr>
        <p:spPr>
          <a:xfrm>
            <a:off x="2526075" y="42804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0" name="Google Shape;520;p57"/>
          <p:cNvSpPr txBox="1"/>
          <p:nvPr>
            <p:ph idx="4294967295" type="subTitle"/>
          </p:nvPr>
        </p:nvSpPr>
        <p:spPr>
          <a:xfrm>
            <a:off x="4577550" y="36136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1" name="Google Shape;521;p57"/>
          <p:cNvSpPr txBox="1"/>
          <p:nvPr>
            <p:ph idx="4294967295" type="subTitle"/>
          </p:nvPr>
        </p:nvSpPr>
        <p:spPr>
          <a:xfrm>
            <a:off x="6617925" y="2865900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2" name="Google Shape;522;p57"/>
          <p:cNvSpPr txBox="1"/>
          <p:nvPr>
            <p:ph idx="4294967295" type="subTitle"/>
          </p:nvPr>
        </p:nvSpPr>
        <p:spPr>
          <a:xfrm>
            <a:off x="6617925" y="36136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3" name="Google Shape;523;p57"/>
          <p:cNvSpPr txBox="1"/>
          <p:nvPr>
            <p:ph idx="4294967295" type="subTitle"/>
          </p:nvPr>
        </p:nvSpPr>
        <p:spPr>
          <a:xfrm>
            <a:off x="6617925" y="42804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4" name="Google Shape;524;p57"/>
          <p:cNvSpPr txBox="1"/>
          <p:nvPr>
            <p:ph idx="4294967295" type="subTitle"/>
          </p:nvPr>
        </p:nvSpPr>
        <p:spPr>
          <a:xfrm>
            <a:off x="6617925" y="2211913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8"/>
          <p:cNvSpPr txBox="1"/>
          <p:nvPr>
            <p:ph idx="6" type="body"/>
          </p:nvPr>
        </p:nvSpPr>
        <p:spPr>
          <a:xfrm>
            <a:off x="436725" y="2546775"/>
            <a:ext cx="2411100" cy="13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changes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Uncertainty in final system parameters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progress on implementation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ensure compatibility between multiple subsystems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8"/>
          <p:cNvSpPr txBox="1"/>
          <p:nvPr>
            <p:ph idx="1" type="subTitle"/>
          </p:nvPr>
        </p:nvSpPr>
        <p:spPr>
          <a:xfrm>
            <a:off x="43672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Problems</a:t>
            </a:r>
            <a:endParaRPr/>
          </a:p>
        </p:txBody>
      </p:sp>
      <p:sp>
        <p:nvSpPr>
          <p:cNvPr id="531" name="Google Shape;531;p58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I had:</a:t>
            </a:r>
            <a:endParaRPr/>
          </a:p>
        </p:txBody>
      </p:sp>
      <p:sp>
        <p:nvSpPr>
          <p:cNvPr id="532" name="Google Shape;532;p58"/>
          <p:cNvSpPr txBox="1"/>
          <p:nvPr>
            <p:ph idx="2" type="subTitle"/>
          </p:nvPr>
        </p:nvSpPr>
        <p:spPr>
          <a:xfrm>
            <a:off x="3528026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Solutions</a:t>
            </a:r>
            <a:endParaRPr/>
          </a:p>
        </p:txBody>
      </p:sp>
      <p:sp>
        <p:nvSpPr>
          <p:cNvPr id="533" name="Google Shape;533;p58"/>
          <p:cNvSpPr txBox="1"/>
          <p:nvPr>
            <p:ph idx="3" type="subTitle"/>
          </p:nvPr>
        </p:nvSpPr>
        <p:spPr>
          <a:xfrm>
            <a:off x="646157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Projected Impact</a:t>
            </a:r>
            <a:endParaRPr/>
          </a:p>
        </p:txBody>
      </p:sp>
      <p:sp>
        <p:nvSpPr>
          <p:cNvPr id="534" name="Google Shape;534;p5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535" name="Google Shape;535;p58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Christina Walker</a:t>
            </a:r>
            <a:endParaRPr sz="1200"/>
          </a:p>
        </p:txBody>
      </p:sp>
      <p:sp>
        <p:nvSpPr>
          <p:cNvPr id="536" name="Google Shape;536;p58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7" name="Google Shape;537;p58"/>
          <p:cNvSpPr txBox="1"/>
          <p:nvPr>
            <p:ph idx="7" type="body"/>
          </p:nvPr>
        </p:nvSpPr>
        <p:spPr>
          <a:xfrm>
            <a:off x="3517200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a flexible logging system that can adapt to changing inputs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placeholder values for testing until specifications are finalized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8"/>
          <p:cNvSpPr txBox="1"/>
          <p:nvPr>
            <p:ph idx="8" type="body"/>
          </p:nvPr>
        </p:nvSpPr>
        <p:spPr>
          <a:xfrm>
            <a:off x="6461575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Minor delays expected due to changes in requirements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 completion of data logging implementation: within 1 week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Estimated completion of integration and testing: within 2–3 weeks 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58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8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58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2" name="Google Shape;542;p58" title="Screenshot 2026-04-18 155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3950" y="3884475"/>
            <a:ext cx="1651801" cy="1092025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9"/>
          <p:cNvSpPr txBox="1"/>
          <p:nvPr>
            <p:ph idx="1" type="subTitle"/>
          </p:nvPr>
        </p:nvSpPr>
        <p:spPr>
          <a:xfrm>
            <a:off x="6587825" y="611825"/>
            <a:ext cx="24231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Diego Cummins</a:t>
            </a:r>
            <a:endParaRPr sz="1800"/>
          </a:p>
        </p:txBody>
      </p:sp>
      <p:sp>
        <p:nvSpPr>
          <p:cNvPr id="548" name="Google Shape;548;p59"/>
          <p:cNvSpPr txBox="1"/>
          <p:nvPr>
            <p:ph type="title"/>
          </p:nvPr>
        </p:nvSpPr>
        <p:spPr>
          <a:xfrm>
            <a:off x="6587814" y="932709"/>
            <a:ext cx="2232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Power Systems Engineer</a:t>
            </a:r>
            <a:endParaRPr/>
          </a:p>
        </p:txBody>
      </p:sp>
      <p:sp>
        <p:nvSpPr>
          <p:cNvPr id="549" name="Google Shape;549;p59"/>
          <p:cNvSpPr txBox="1"/>
          <p:nvPr>
            <p:ph idx="2" type="subTitle"/>
          </p:nvPr>
        </p:nvSpPr>
        <p:spPr>
          <a:xfrm>
            <a:off x="6456725" y="1486800"/>
            <a:ext cx="2668800" cy="36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Project Role</a:t>
            </a:r>
            <a:endParaRPr sz="1100"/>
          </a:p>
          <a:p>
            <a:pPr indent="-285750" lvl="1" marL="914400" marR="247015" rtl="0" algn="l">
              <a:spcBef>
                <a:spcPts val="1380"/>
              </a:spcBef>
              <a:spcAft>
                <a:spcPts val="0"/>
              </a:spcAft>
              <a:buSzPts val="900"/>
              <a:buChar char="○"/>
            </a:pPr>
            <a:r>
              <a:rPr lang="en" sz="1100"/>
              <a:t>Design and analyze the power architecture for Zeu</a:t>
            </a:r>
            <a:r>
              <a:rPr lang="en" sz="1100"/>
              <a:t>s.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Design power converters for the LED and speaker subsystems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 Define power requirements, peak and average power budgets, and duty-cycle limitations to ensure safe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Summary of my contributions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Created a model of the housing for the lights.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Done simple calculations for the power requirements of the lights.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Creating model of exterior of the device.</a:t>
            </a:r>
            <a:endParaRPr sz="1100"/>
          </a:p>
        </p:txBody>
      </p:sp>
      <p:sp>
        <p:nvSpPr>
          <p:cNvPr id="550" name="Google Shape;550;p5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5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Diego Cummins</a:t>
            </a:r>
            <a:endParaRPr/>
          </a:p>
        </p:txBody>
      </p:sp>
      <p:sp>
        <p:nvSpPr>
          <p:cNvPr id="552" name="Google Shape;552;p5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Zeus Development Group</a:t>
            </a:r>
            <a:endParaRPr/>
          </a:p>
        </p:txBody>
      </p:sp>
      <p:cxnSp>
        <p:nvCxnSpPr>
          <p:cNvPr id="553" name="Google Shape;553;p59"/>
          <p:cNvCxnSpPr/>
          <p:nvPr/>
        </p:nvCxnSpPr>
        <p:spPr>
          <a:xfrm>
            <a:off x="6396700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4" name="Google Shape;554;p59" title="Power Supp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25" y="779725"/>
            <a:ext cx="2668800" cy="2250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pic>
      <p:sp>
        <p:nvSpPr>
          <p:cNvPr id="555" name="Google Shape;555;p59"/>
          <p:cNvSpPr/>
          <p:nvPr/>
        </p:nvSpPr>
        <p:spPr>
          <a:xfrm>
            <a:off x="911325" y="779725"/>
            <a:ext cx="1980900" cy="78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6" name="Google Shape;556;p59" title="Power Supply.jpg"/>
          <p:cNvPicPr preferRelativeResize="0"/>
          <p:nvPr/>
        </p:nvPicPr>
        <p:blipFill rotWithShape="1">
          <a:blip r:embed="rId3">
            <a:alphaModFix/>
          </a:blip>
          <a:srcRect b="63373" l="21728" r="0" t="0"/>
          <a:stretch/>
        </p:blipFill>
        <p:spPr>
          <a:xfrm>
            <a:off x="3347438" y="254556"/>
            <a:ext cx="2785200" cy="109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7" name="Google Shape;557;p59"/>
          <p:cNvSpPr/>
          <p:nvPr/>
        </p:nvSpPr>
        <p:spPr>
          <a:xfrm rot="5400000">
            <a:off x="1959900" y="1929925"/>
            <a:ext cx="1455900" cy="71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8" name="Google Shape;558;p59" title="Power Supply.jpg"/>
          <p:cNvPicPr preferRelativeResize="0"/>
          <p:nvPr/>
        </p:nvPicPr>
        <p:blipFill rotWithShape="1">
          <a:blip r:embed="rId3">
            <a:alphaModFix/>
          </a:blip>
          <a:srcRect b="0" l="73565" r="0" t="32487"/>
          <a:stretch/>
        </p:blipFill>
        <p:spPr>
          <a:xfrm>
            <a:off x="3986850" y="2117700"/>
            <a:ext cx="1170300" cy="2440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59" name="Google Shape;559;p59"/>
          <p:cNvCxnSpPr/>
          <p:nvPr/>
        </p:nvCxnSpPr>
        <p:spPr>
          <a:xfrm flipH="1" rot="10800000">
            <a:off x="1016250" y="244025"/>
            <a:ext cx="2451600" cy="53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59"/>
          <p:cNvCxnSpPr>
            <a:stCxn id="557" idx="1"/>
          </p:cNvCxnSpPr>
          <p:nvPr/>
        </p:nvCxnSpPr>
        <p:spPr>
          <a:xfrm flipH="1" rot="10800000">
            <a:off x="2687850" y="1368475"/>
            <a:ext cx="3333000" cy="19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59"/>
          <p:cNvCxnSpPr/>
          <p:nvPr/>
        </p:nvCxnSpPr>
        <p:spPr>
          <a:xfrm>
            <a:off x="2952225" y="1563550"/>
            <a:ext cx="2081400" cy="544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59"/>
          <p:cNvCxnSpPr/>
          <p:nvPr/>
        </p:nvCxnSpPr>
        <p:spPr>
          <a:xfrm>
            <a:off x="2375525" y="2990475"/>
            <a:ext cx="1678500" cy="1553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0"/>
          <p:cNvSpPr/>
          <p:nvPr/>
        </p:nvSpPr>
        <p:spPr>
          <a:xfrm>
            <a:off x="444500" y="1668325"/>
            <a:ext cx="8223000" cy="3194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8" name="Google Shape;568;p60"/>
          <p:cNvSpPr/>
          <p:nvPr/>
        </p:nvSpPr>
        <p:spPr>
          <a:xfrm>
            <a:off x="436725" y="1650675"/>
            <a:ext cx="8230200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9" name="Google Shape;569;p60"/>
          <p:cNvSpPr txBox="1"/>
          <p:nvPr>
            <p:ph type="title"/>
          </p:nvPr>
        </p:nvSpPr>
        <p:spPr>
          <a:xfrm>
            <a:off x="436725" y="647516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did:</a:t>
            </a:r>
            <a:endParaRPr/>
          </a:p>
        </p:txBody>
      </p:sp>
      <p:sp>
        <p:nvSpPr>
          <p:cNvPr id="570" name="Google Shape;570;p6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6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Diego Cummins</a:t>
            </a:r>
            <a:endParaRPr/>
          </a:p>
        </p:txBody>
      </p:sp>
      <p:sp>
        <p:nvSpPr>
          <p:cNvPr id="572" name="Google Shape;572;p60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Zeus Development Group</a:t>
            </a:r>
            <a:endParaRPr/>
          </a:p>
        </p:txBody>
      </p:sp>
      <p:sp>
        <p:nvSpPr>
          <p:cNvPr id="573" name="Google Shape;573;p60"/>
          <p:cNvSpPr txBox="1"/>
          <p:nvPr>
            <p:ph idx="4294967295" type="subTitle"/>
          </p:nvPr>
        </p:nvSpPr>
        <p:spPr>
          <a:xfrm>
            <a:off x="24942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COMPLETED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4" name="Google Shape;574;p60"/>
          <p:cNvSpPr txBox="1"/>
          <p:nvPr>
            <p:ph idx="4294967295" type="subTitle"/>
          </p:nvPr>
        </p:nvSpPr>
        <p:spPr>
          <a:xfrm>
            <a:off x="455182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IN-PROGRESS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5" name="Google Shape;575;p60"/>
          <p:cNvSpPr txBox="1"/>
          <p:nvPr>
            <p:ph idx="4294967295" type="subTitle"/>
          </p:nvPr>
        </p:nvSpPr>
        <p:spPr>
          <a:xfrm>
            <a:off x="66093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NOT STARTED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6" name="Google Shape;576;p60"/>
          <p:cNvSpPr txBox="1"/>
          <p:nvPr>
            <p:ph idx="4294967295" type="subTitle"/>
          </p:nvPr>
        </p:nvSpPr>
        <p:spPr>
          <a:xfrm>
            <a:off x="4367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Calculated power requirement for LEDs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7" name="Google Shape;577;p60"/>
          <p:cNvSpPr txBox="1"/>
          <p:nvPr>
            <p:ph idx="4294967295" type="subTitle"/>
          </p:nvPr>
        </p:nvSpPr>
        <p:spPr>
          <a:xfrm>
            <a:off x="436725" y="26771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LED housing model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8" name="Google Shape;578;p60"/>
          <p:cNvSpPr txBox="1"/>
          <p:nvPr>
            <p:ph idx="4294967295" type="subTitle"/>
          </p:nvPr>
        </p:nvSpPr>
        <p:spPr>
          <a:xfrm>
            <a:off x="436725" y="3256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Model of exterior of 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device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9" name="Google Shape;579;p60"/>
          <p:cNvSpPr txBox="1"/>
          <p:nvPr>
            <p:ph idx="4294967295" type="subTitle"/>
          </p:nvPr>
        </p:nvSpPr>
        <p:spPr>
          <a:xfrm>
            <a:off x="436725" y="38364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Design of power converters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0" name="Google Shape;580;p60"/>
          <p:cNvSpPr/>
          <p:nvPr/>
        </p:nvSpPr>
        <p:spPr>
          <a:xfrm>
            <a:off x="3413925" y="212017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1" name="Google Shape;581;p60"/>
          <p:cNvSpPr txBox="1"/>
          <p:nvPr>
            <p:ph idx="4294967295" type="subTitle"/>
          </p:nvPr>
        </p:nvSpPr>
        <p:spPr>
          <a:xfrm>
            <a:off x="436725" y="44161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Create DC to AC Converter Circuit for speaker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2" name="Google Shape;582;p60"/>
          <p:cNvSpPr txBox="1"/>
          <p:nvPr>
            <p:ph idx="4294967295" type="subTitle"/>
          </p:nvPr>
        </p:nvSpPr>
        <p:spPr>
          <a:xfrm>
            <a:off x="45518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100%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3" name="Google Shape;583;p60"/>
          <p:cNvSpPr txBox="1"/>
          <p:nvPr>
            <p:ph idx="4294967295" type="subTitle"/>
          </p:nvPr>
        </p:nvSpPr>
        <p:spPr>
          <a:xfrm>
            <a:off x="4551825" y="3256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30%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4" name="Google Shape;584;p60"/>
          <p:cNvSpPr txBox="1"/>
          <p:nvPr>
            <p:ph idx="4294967295" type="subTitle"/>
          </p:nvPr>
        </p:nvSpPr>
        <p:spPr>
          <a:xfrm>
            <a:off x="4551825" y="44162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5" name="Google Shape;585;p60"/>
          <p:cNvSpPr txBox="1"/>
          <p:nvPr>
            <p:ph idx="4294967295" type="subTitle"/>
          </p:nvPr>
        </p:nvSpPr>
        <p:spPr>
          <a:xfrm>
            <a:off x="2494275" y="38604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6" name="Google Shape;586;p60"/>
          <p:cNvSpPr txBox="1"/>
          <p:nvPr>
            <p:ph idx="4294967295" type="subTitle"/>
          </p:nvPr>
        </p:nvSpPr>
        <p:spPr>
          <a:xfrm>
            <a:off x="660937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7" name="Google Shape;587;p60"/>
          <p:cNvSpPr txBox="1"/>
          <p:nvPr>
            <p:ph idx="4294967295" type="subTitle"/>
          </p:nvPr>
        </p:nvSpPr>
        <p:spPr>
          <a:xfrm>
            <a:off x="2494275" y="325681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88" name="Google Shape;588;p60"/>
          <p:cNvSpPr txBox="1"/>
          <p:nvPr>
            <p:ph idx="4294967295" type="subTitle"/>
          </p:nvPr>
        </p:nvSpPr>
        <p:spPr>
          <a:xfrm>
            <a:off x="6609375" y="27010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89" name="Google Shape;589;p60"/>
          <p:cNvGrpSpPr/>
          <p:nvPr/>
        </p:nvGrpSpPr>
        <p:grpSpPr>
          <a:xfrm>
            <a:off x="440850" y="1964350"/>
            <a:ext cx="8223000" cy="2898600"/>
            <a:chOff x="440850" y="1964350"/>
            <a:chExt cx="8223000" cy="2898600"/>
          </a:xfrm>
        </p:grpSpPr>
        <p:cxnSp>
          <p:nvCxnSpPr>
            <p:cNvPr id="590" name="Google Shape;590;p60"/>
            <p:cNvCxnSpPr/>
            <p:nvPr/>
          </p:nvCxnSpPr>
          <p:spPr>
            <a:xfrm>
              <a:off x="440850" y="19644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60"/>
            <p:cNvCxnSpPr/>
            <p:nvPr/>
          </p:nvCxnSpPr>
          <p:spPr>
            <a:xfrm>
              <a:off x="440850" y="254895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60"/>
            <p:cNvCxnSpPr/>
            <p:nvPr/>
          </p:nvCxnSpPr>
          <p:spPr>
            <a:xfrm>
              <a:off x="440850" y="313342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60"/>
            <p:cNvCxnSpPr/>
            <p:nvPr/>
          </p:nvCxnSpPr>
          <p:spPr>
            <a:xfrm>
              <a:off x="440850" y="371790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60"/>
            <p:cNvCxnSpPr/>
            <p:nvPr/>
          </p:nvCxnSpPr>
          <p:spPr>
            <a:xfrm>
              <a:off x="440850" y="43023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60"/>
            <p:cNvCxnSpPr/>
            <p:nvPr/>
          </p:nvCxnSpPr>
          <p:spPr>
            <a:xfrm rot="-5400000">
              <a:off x="31022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60"/>
            <p:cNvCxnSpPr/>
            <p:nvPr/>
          </p:nvCxnSpPr>
          <p:spPr>
            <a:xfrm rot="-5400000">
              <a:off x="516337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60"/>
            <p:cNvCxnSpPr/>
            <p:nvPr/>
          </p:nvCxnSpPr>
          <p:spPr>
            <a:xfrm rot="-5400000">
              <a:off x="10448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8" name="Google Shape;598;p60"/>
          <p:cNvSpPr txBox="1"/>
          <p:nvPr/>
        </p:nvSpPr>
        <p:spPr>
          <a:xfrm>
            <a:off x="6829875" y="3256350"/>
            <a:ext cx="161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endParaRPr sz="10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9" name="Google Shape;599;p60"/>
          <p:cNvSpPr/>
          <p:nvPr/>
        </p:nvSpPr>
        <p:spPr>
          <a:xfrm>
            <a:off x="7529025" y="3956140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0" name="Google Shape;600;p60"/>
          <p:cNvSpPr txBox="1"/>
          <p:nvPr/>
        </p:nvSpPr>
        <p:spPr>
          <a:xfrm>
            <a:off x="4895275" y="3895850"/>
            <a:ext cx="139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1" name="Google Shape;601;p60"/>
          <p:cNvSpPr txBox="1"/>
          <p:nvPr/>
        </p:nvSpPr>
        <p:spPr>
          <a:xfrm>
            <a:off x="4684525" y="2664650"/>
            <a:ext cx="18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100%</a:t>
            </a:r>
            <a:endParaRPr sz="8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2" name="Google Shape;602;p60"/>
          <p:cNvSpPr txBox="1"/>
          <p:nvPr/>
        </p:nvSpPr>
        <p:spPr>
          <a:xfrm>
            <a:off x="2665250" y="4418525"/>
            <a:ext cx="177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-</a:t>
            </a:r>
            <a:endParaRPr sz="10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3" name="Google Shape;603;p60"/>
          <p:cNvSpPr/>
          <p:nvPr/>
        </p:nvSpPr>
        <p:spPr>
          <a:xfrm>
            <a:off x="7529025" y="447881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4" name="Google Shape;604;p60"/>
          <p:cNvSpPr/>
          <p:nvPr/>
        </p:nvSpPr>
        <p:spPr>
          <a:xfrm>
            <a:off x="3413925" y="270101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1"/>
          <p:cNvSpPr txBox="1"/>
          <p:nvPr>
            <p:ph idx="6" type="body"/>
          </p:nvPr>
        </p:nvSpPr>
        <p:spPr>
          <a:xfrm>
            <a:off x="436725" y="2546775"/>
            <a:ext cx="22053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Minimal </a:t>
            </a:r>
            <a:r>
              <a:rPr lang="en"/>
              <a:t>space</a:t>
            </a:r>
            <a:r>
              <a:rPr lang="en"/>
              <a:t> to work with while modeling the LED housing.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Sudden changes in design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Parts not meeting what they advertised to output.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Understanding of power converters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1"/>
          <p:cNvSpPr txBox="1"/>
          <p:nvPr>
            <p:ph idx="1" type="subTitle"/>
          </p:nvPr>
        </p:nvSpPr>
        <p:spPr>
          <a:xfrm>
            <a:off x="43672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Problems</a:t>
            </a:r>
            <a:endParaRPr/>
          </a:p>
        </p:txBody>
      </p:sp>
      <p:sp>
        <p:nvSpPr>
          <p:cNvPr id="611" name="Google Shape;611;p61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I had:</a:t>
            </a:r>
            <a:endParaRPr/>
          </a:p>
        </p:txBody>
      </p:sp>
      <p:sp>
        <p:nvSpPr>
          <p:cNvPr id="612" name="Google Shape;612;p61"/>
          <p:cNvSpPr txBox="1"/>
          <p:nvPr>
            <p:ph idx="2" type="subTitle"/>
          </p:nvPr>
        </p:nvSpPr>
        <p:spPr>
          <a:xfrm>
            <a:off x="3528026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Solutions</a:t>
            </a:r>
            <a:endParaRPr/>
          </a:p>
        </p:txBody>
      </p:sp>
      <p:sp>
        <p:nvSpPr>
          <p:cNvPr id="613" name="Google Shape;613;p61"/>
          <p:cNvSpPr txBox="1"/>
          <p:nvPr>
            <p:ph idx="3" type="subTitle"/>
          </p:nvPr>
        </p:nvSpPr>
        <p:spPr>
          <a:xfrm>
            <a:off x="646157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Projected Impact</a:t>
            </a:r>
            <a:endParaRPr/>
          </a:p>
        </p:txBody>
      </p:sp>
      <p:sp>
        <p:nvSpPr>
          <p:cNvPr id="614" name="Google Shape;614;p6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61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Diego Cummins</a:t>
            </a:r>
            <a:endParaRPr/>
          </a:p>
        </p:txBody>
      </p:sp>
      <p:sp>
        <p:nvSpPr>
          <p:cNvPr id="616" name="Google Shape;616;p61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Zeus Development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1"/>
          <p:cNvSpPr txBox="1"/>
          <p:nvPr>
            <p:ph idx="7" type="body"/>
          </p:nvPr>
        </p:nvSpPr>
        <p:spPr>
          <a:xfrm>
            <a:off x="3531600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Pivot into using less LEDs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Redesign of entire device caused changes in measurements.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Overcompensation of power requirements in order to handle added strain if needed.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Researched converters and have done simulations in other power focused classes.</a:t>
            </a:r>
            <a:endParaRPr/>
          </a:p>
        </p:txBody>
      </p:sp>
      <p:sp>
        <p:nvSpPr>
          <p:cNvPr id="618" name="Google Shape;618;p61"/>
          <p:cNvSpPr txBox="1"/>
          <p:nvPr>
            <p:ph idx="8" type="body"/>
          </p:nvPr>
        </p:nvSpPr>
        <p:spPr>
          <a:xfrm>
            <a:off x="6461575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Improper</a:t>
            </a:r>
            <a:r>
              <a:rPr lang="en"/>
              <a:t> heat sinking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Increase in modeling time investment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Delay in converter design as well as errors in calculations and efficiency.</a:t>
            </a:r>
            <a:endParaRPr/>
          </a:p>
        </p:txBody>
      </p:sp>
      <p:cxnSp>
        <p:nvCxnSpPr>
          <p:cNvPr id="619" name="Google Shape;619;p61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61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61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2" name="Google Shape;622;p61"/>
          <p:cNvPicPr preferRelativeResize="0"/>
          <p:nvPr/>
        </p:nvPicPr>
        <p:blipFill rotWithShape="1">
          <a:blip r:embed="rId3">
            <a:alphaModFix/>
          </a:blip>
          <a:srcRect b="16667" l="27207" r="28981" t="16667"/>
          <a:stretch/>
        </p:blipFill>
        <p:spPr>
          <a:xfrm>
            <a:off x="97825" y="3830470"/>
            <a:ext cx="1320873" cy="1256182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3" name="Google Shape;62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263" y="3830475"/>
            <a:ext cx="1136874" cy="125617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2"/>
          <p:cNvSpPr txBox="1"/>
          <p:nvPr>
            <p:ph idx="1" type="subTitle"/>
          </p:nvPr>
        </p:nvSpPr>
        <p:spPr>
          <a:xfrm>
            <a:off x="6587824" y="611825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Jessy Pena</a:t>
            </a:r>
            <a:endParaRPr sz="1800"/>
          </a:p>
        </p:txBody>
      </p:sp>
      <p:sp>
        <p:nvSpPr>
          <p:cNvPr id="629" name="Google Shape;629;p62"/>
          <p:cNvSpPr txBox="1"/>
          <p:nvPr>
            <p:ph type="title"/>
          </p:nvPr>
        </p:nvSpPr>
        <p:spPr>
          <a:xfrm>
            <a:off x="6587814" y="932709"/>
            <a:ext cx="2232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Hardware Integration Engineer</a:t>
            </a:r>
            <a:endParaRPr/>
          </a:p>
        </p:txBody>
      </p:sp>
      <p:sp>
        <p:nvSpPr>
          <p:cNvPr id="630" name="Google Shape;630;p62"/>
          <p:cNvSpPr txBox="1"/>
          <p:nvPr>
            <p:ph idx="2" type="subTitle"/>
          </p:nvPr>
        </p:nvSpPr>
        <p:spPr>
          <a:xfrm>
            <a:off x="6458825" y="1560175"/>
            <a:ext cx="2437500" cy="3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My role is to: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Verify compatibility of various components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Design interior framework of device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Compile circuit into comprehensive PCB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summary of my contributions: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Soldered &amp; tested LEDs’ working and max loads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Built circuit on breadboard to verify correct power distribution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Creating CAD model of interior components</a:t>
            </a:r>
            <a:endParaRPr sz="1200"/>
          </a:p>
        </p:txBody>
      </p:sp>
      <p:sp>
        <p:nvSpPr>
          <p:cNvPr id="631" name="Google Shape;631;p6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632" name="Google Shape;632;p62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Jessy Pena</a:t>
            </a:r>
            <a:endParaRPr sz="1200"/>
          </a:p>
        </p:txBody>
      </p:sp>
      <p:sp>
        <p:nvSpPr>
          <p:cNvPr id="633" name="Google Shape;633;p62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cxnSp>
        <p:nvCxnSpPr>
          <p:cNvPr id="634" name="Google Shape;634;p62"/>
          <p:cNvCxnSpPr/>
          <p:nvPr/>
        </p:nvCxnSpPr>
        <p:spPr>
          <a:xfrm>
            <a:off x="6396700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5" name="Google Shape;635;p62" title="Power Supp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25" y="1207725"/>
            <a:ext cx="2668800" cy="22506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pic>
      <p:cxnSp>
        <p:nvCxnSpPr>
          <p:cNvPr id="636" name="Google Shape;636;p62"/>
          <p:cNvCxnSpPr/>
          <p:nvPr/>
        </p:nvCxnSpPr>
        <p:spPr>
          <a:xfrm>
            <a:off x="1815550" y="1941775"/>
            <a:ext cx="2311500" cy="233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62"/>
          <p:cNvCxnSpPr/>
          <p:nvPr/>
        </p:nvCxnSpPr>
        <p:spPr>
          <a:xfrm>
            <a:off x="2380200" y="1275475"/>
            <a:ext cx="2162700" cy="119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62"/>
          <p:cNvSpPr/>
          <p:nvPr/>
        </p:nvSpPr>
        <p:spPr>
          <a:xfrm>
            <a:off x="1753725" y="1275475"/>
            <a:ext cx="669900" cy="666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39" name="Google Shape;639;p62" title="Power Supply.jpg"/>
          <p:cNvPicPr preferRelativeResize="0"/>
          <p:nvPr/>
        </p:nvPicPr>
        <p:blipFill rotWithShape="1">
          <a:blip r:embed="rId3">
            <a:alphaModFix/>
          </a:blip>
          <a:srcRect b="64503" l="49979" r="24762" t="3201"/>
          <a:stretch/>
        </p:blipFill>
        <p:spPr>
          <a:xfrm>
            <a:off x="4093650" y="2502400"/>
            <a:ext cx="1786500" cy="1926300"/>
          </a:xfrm>
          <a:prstGeom prst="roundRect">
            <a:avLst>
              <a:gd fmla="val 7131" name="adj"/>
            </a:avLst>
          </a:prstGeom>
          <a:noFill/>
          <a:ln>
            <a:noFill/>
          </a:ln>
        </p:spPr>
      </p:pic>
      <p:sp>
        <p:nvSpPr>
          <p:cNvPr id="640" name="Google Shape;640;p62"/>
          <p:cNvSpPr/>
          <p:nvPr/>
        </p:nvSpPr>
        <p:spPr>
          <a:xfrm>
            <a:off x="4093650" y="2502400"/>
            <a:ext cx="1786500" cy="1955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3"/>
          <p:cNvSpPr txBox="1"/>
          <p:nvPr>
            <p:ph type="title"/>
          </p:nvPr>
        </p:nvSpPr>
        <p:spPr>
          <a:xfrm>
            <a:off x="436725" y="647516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did:</a:t>
            </a:r>
            <a:endParaRPr/>
          </a:p>
        </p:txBody>
      </p:sp>
      <p:sp>
        <p:nvSpPr>
          <p:cNvPr id="646" name="Google Shape;646;p6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647" name="Google Shape;647;p6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Jessy Pena</a:t>
            </a:r>
            <a:endParaRPr sz="1200"/>
          </a:p>
        </p:txBody>
      </p:sp>
      <p:sp>
        <p:nvSpPr>
          <p:cNvPr id="648" name="Google Shape;648;p6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sp>
        <p:nvSpPr>
          <p:cNvPr id="649" name="Google Shape;649;p63"/>
          <p:cNvSpPr txBox="1"/>
          <p:nvPr>
            <p:ph idx="4294967295" type="subTitle"/>
          </p:nvPr>
        </p:nvSpPr>
        <p:spPr>
          <a:xfrm>
            <a:off x="6619463" y="14028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NOT STARTED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650" name="Google Shape;650;p63"/>
          <p:cNvGraphicFramePr/>
          <p:nvPr/>
        </p:nvGraphicFramePr>
        <p:xfrm>
          <a:off x="480150" y="1658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{9FEC4800-F719-488D-8670-2445DFA57EAC}</a:tableStyleId>
              </a:tblPr>
              <a:tblGrid>
                <a:gridCol w="2045925"/>
                <a:gridCol w="2045925"/>
                <a:gridCol w="2045925"/>
                <a:gridCol w="2045925"/>
              </a:tblGrid>
              <a:tr h="330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COMPLETED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IN PROGRESS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</a:rPr>
                        <a:t>NOT STARTED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88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Soldered &amp; Tested LEDs Max &amp; Working Loads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100%</a:t>
                      </a:r>
                      <a:endParaRPr sz="12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Verify compatibility of components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50%</a:t>
                      </a:r>
                      <a:endParaRPr sz="12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Create CAD Model of interior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20</a:t>
                      </a:r>
                      <a:r>
                        <a:rPr lang="en" sz="12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%</a:t>
                      </a:r>
                      <a:endParaRPr sz="12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Compile circuit into comprehensive PCB</a:t>
                      </a:r>
                      <a:endParaRPr sz="8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4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0%</a:t>
                      </a:r>
                      <a:endParaRPr sz="1200">
                        <a:solidFill>
                          <a:schemeClr val="accent4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1" name="Google Shape;651;p63"/>
          <p:cNvSpPr/>
          <p:nvPr/>
        </p:nvSpPr>
        <p:spPr>
          <a:xfrm>
            <a:off x="3451341" y="220057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2" name="Google Shape;652;p63"/>
          <p:cNvSpPr/>
          <p:nvPr/>
        </p:nvSpPr>
        <p:spPr>
          <a:xfrm>
            <a:off x="7543553" y="435442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3" name="Google Shape;653;p63"/>
          <p:cNvSpPr txBox="1"/>
          <p:nvPr>
            <p:ph idx="4294967295" type="subTitle"/>
          </p:nvPr>
        </p:nvSpPr>
        <p:spPr>
          <a:xfrm>
            <a:off x="6625175" y="28866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54" name="Google Shape;654;p63"/>
          <p:cNvSpPr txBox="1"/>
          <p:nvPr>
            <p:ph idx="4294967295" type="subTitle"/>
          </p:nvPr>
        </p:nvSpPr>
        <p:spPr>
          <a:xfrm>
            <a:off x="6617925" y="36205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55" name="Google Shape;655;p63"/>
          <p:cNvSpPr txBox="1"/>
          <p:nvPr>
            <p:ph idx="4294967295" type="subTitle"/>
          </p:nvPr>
        </p:nvSpPr>
        <p:spPr>
          <a:xfrm>
            <a:off x="6625175" y="2152725"/>
            <a:ext cx="20460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4"/>
          <p:cNvSpPr txBox="1"/>
          <p:nvPr>
            <p:ph idx="6" type="body"/>
          </p:nvPr>
        </p:nvSpPr>
        <p:spPr>
          <a:xfrm>
            <a:off x="436725" y="2546775"/>
            <a:ext cx="2373600" cy="228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Indecision on what components would be best to use for the device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Cross-platform incompatibility between Solidworks &amp; Fusion360</a:t>
            </a:r>
            <a:endParaRPr/>
          </a:p>
        </p:txBody>
      </p:sp>
      <p:sp>
        <p:nvSpPr>
          <p:cNvPr id="661" name="Google Shape;661;p64"/>
          <p:cNvSpPr txBox="1"/>
          <p:nvPr>
            <p:ph idx="1" type="subTitle"/>
          </p:nvPr>
        </p:nvSpPr>
        <p:spPr>
          <a:xfrm>
            <a:off x="43672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Problems</a:t>
            </a:r>
            <a:endParaRPr/>
          </a:p>
        </p:txBody>
      </p:sp>
      <p:sp>
        <p:nvSpPr>
          <p:cNvPr id="662" name="Google Shape;662;p64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I had:</a:t>
            </a:r>
            <a:endParaRPr/>
          </a:p>
        </p:txBody>
      </p:sp>
      <p:sp>
        <p:nvSpPr>
          <p:cNvPr id="663" name="Google Shape;663;p64"/>
          <p:cNvSpPr txBox="1"/>
          <p:nvPr>
            <p:ph idx="2" type="subTitle"/>
          </p:nvPr>
        </p:nvSpPr>
        <p:spPr>
          <a:xfrm>
            <a:off x="3528026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Solutions</a:t>
            </a:r>
            <a:endParaRPr/>
          </a:p>
        </p:txBody>
      </p:sp>
      <p:sp>
        <p:nvSpPr>
          <p:cNvPr id="664" name="Google Shape;664;p64"/>
          <p:cNvSpPr txBox="1"/>
          <p:nvPr>
            <p:ph idx="3" type="subTitle"/>
          </p:nvPr>
        </p:nvSpPr>
        <p:spPr>
          <a:xfrm>
            <a:off x="646157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Projected Impact</a:t>
            </a:r>
            <a:endParaRPr/>
          </a:p>
        </p:txBody>
      </p:sp>
      <p:sp>
        <p:nvSpPr>
          <p:cNvPr id="665" name="Google Shape;665;p6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666" name="Google Shape;666;p64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Jessy Pena</a:t>
            </a:r>
            <a:endParaRPr sz="1200"/>
          </a:p>
        </p:txBody>
      </p:sp>
      <p:sp>
        <p:nvSpPr>
          <p:cNvPr id="667" name="Google Shape;667;p64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8" name="Google Shape;668;p64"/>
          <p:cNvSpPr txBox="1"/>
          <p:nvPr>
            <p:ph idx="7" type="body"/>
          </p:nvPr>
        </p:nvSpPr>
        <p:spPr>
          <a:xfrm>
            <a:off x="3433050" y="2546775"/>
            <a:ext cx="23736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Clear communications of updates on findings with safety requirements research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Need to learn SolidWorks in order to properly integrate interior with OR keep files separate</a:t>
            </a:r>
            <a:endParaRPr/>
          </a:p>
        </p:txBody>
      </p:sp>
      <p:sp>
        <p:nvSpPr>
          <p:cNvPr id="669" name="Google Shape;669;p64"/>
          <p:cNvSpPr txBox="1"/>
          <p:nvPr>
            <p:ph idx="8" type="body"/>
          </p:nvPr>
        </p:nvSpPr>
        <p:spPr>
          <a:xfrm>
            <a:off x="6377425" y="2546775"/>
            <a:ext cx="23736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Delay created ordering components, therefore testing may be delayed by potentially weeks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Delay with learning software OR potential incompatibility issues when printing parts</a:t>
            </a:r>
            <a:endParaRPr/>
          </a:p>
        </p:txBody>
      </p:sp>
      <p:cxnSp>
        <p:nvCxnSpPr>
          <p:cNvPr id="670" name="Google Shape;670;p64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64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64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65" title="Power Supp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97" y="611827"/>
            <a:ext cx="2811000" cy="2370600"/>
          </a:xfrm>
          <a:prstGeom prst="roundRect">
            <a:avLst>
              <a:gd fmla="val 10752" name="adj"/>
            </a:avLst>
          </a:prstGeom>
          <a:noFill/>
          <a:ln>
            <a:noFill/>
          </a:ln>
        </p:spPr>
      </p:pic>
      <p:sp>
        <p:nvSpPr>
          <p:cNvPr id="678" name="Google Shape;678;p65"/>
          <p:cNvSpPr txBox="1"/>
          <p:nvPr>
            <p:ph idx="1" type="subTitle"/>
          </p:nvPr>
        </p:nvSpPr>
        <p:spPr>
          <a:xfrm>
            <a:off x="6587824" y="611825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Jose Aguirre</a:t>
            </a:r>
            <a:endParaRPr sz="1800"/>
          </a:p>
        </p:txBody>
      </p:sp>
      <p:sp>
        <p:nvSpPr>
          <p:cNvPr id="679" name="Google Shape;679;p65"/>
          <p:cNvSpPr txBox="1"/>
          <p:nvPr>
            <p:ph type="title"/>
          </p:nvPr>
        </p:nvSpPr>
        <p:spPr>
          <a:xfrm>
            <a:off x="6587814" y="929909"/>
            <a:ext cx="2232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Embedded Systems Engineer</a:t>
            </a:r>
            <a:endParaRPr/>
          </a:p>
        </p:txBody>
      </p:sp>
      <p:sp>
        <p:nvSpPr>
          <p:cNvPr id="680" name="Google Shape;680;p65"/>
          <p:cNvSpPr txBox="1"/>
          <p:nvPr>
            <p:ph idx="2" type="subTitle"/>
          </p:nvPr>
        </p:nvSpPr>
        <p:spPr>
          <a:xfrm>
            <a:off x="6458825" y="1554575"/>
            <a:ext cx="2361000" cy="28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Designed circuits to be implemented in the device.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Researched on LED’s with the needed lumen.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Designed LED circuit to implement into the microcontroller.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Tested LED’s actual limits in order to have more accurate data.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This is a summary of the biggest contributions I’ve made.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Designed the Draft LED circuit.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Tested LED’s limit.</a:t>
            </a:r>
            <a:endParaRPr sz="1200"/>
          </a:p>
        </p:txBody>
      </p:sp>
      <p:sp>
        <p:nvSpPr>
          <p:cNvPr id="681" name="Google Shape;681;p6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682" name="Google Shape;682;p65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Jose Aguirre</a:t>
            </a:r>
            <a:endParaRPr sz="1200"/>
          </a:p>
        </p:txBody>
      </p:sp>
      <p:sp>
        <p:nvSpPr>
          <p:cNvPr id="683" name="Google Shape;683;p65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cxnSp>
        <p:nvCxnSpPr>
          <p:cNvPr id="684" name="Google Shape;684;p65"/>
          <p:cNvCxnSpPr/>
          <p:nvPr/>
        </p:nvCxnSpPr>
        <p:spPr>
          <a:xfrm>
            <a:off x="6396700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65"/>
          <p:cNvSpPr/>
          <p:nvPr/>
        </p:nvSpPr>
        <p:spPr>
          <a:xfrm>
            <a:off x="1628950" y="611825"/>
            <a:ext cx="1434300" cy="237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6" name="Google Shape;686;p65"/>
          <p:cNvCxnSpPr/>
          <p:nvPr/>
        </p:nvCxnSpPr>
        <p:spPr>
          <a:xfrm>
            <a:off x="1681875" y="2887475"/>
            <a:ext cx="2024100" cy="2116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65"/>
          <p:cNvCxnSpPr/>
          <p:nvPr/>
        </p:nvCxnSpPr>
        <p:spPr>
          <a:xfrm>
            <a:off x="2951875" y="651750"/>
            <a:ext cx="2540100" cy="1256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8" name="Google Shape;68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300" y="1877533"/>
            <a:ext cx="1893000" cy="3139200"/>
          </a:xfrm>
          <a:prstGeom prst="roundRect">
            <a:avLst>
              <a:gd fmla="val 10388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6"/>
          <p:cNvSpPr/>
          <p:nvPr/>
        </p:nvSpPr>
        <p:spPr>
          <a:xfrm>
            <a:off x="436725" y="1650675"/>
            <a:ext cx="8230200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94" name="Google Shape;694;p66"/>
          <p:cNvGrpSpPr/>
          <p:nvPr/>
        </p:nvGrpSpPr>
        <p:grpSpPr>
          <a:xfrm>
            <a:off x="436725" y="1650675"/>
            <a:ext cx="8230200" cy="3212400"/>
            <a:chOff x="436725" y="1650675"/>
            <a:chExt cx="8230200" cy="3212400"/>
          </a:xfrm>
        </p:grpSpPr>
        <p:sp>
          <p:nvSpPr>
            <p:cNvPr id="695" name="Google Shape;695;p66"/>
            <p:cNvSpPr/>
            <p:nvPr/>
          </p:nvSpPr>
          <p:spPr>
            <a:xfrm>
              <a:off x="436725" y="1650675"/>
              <a:ext cx="8230200" cy="32124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696" name="Google Shape;696;p66"/>
            <p:cNvCxnSpPr/>
            <p:nvPr/>
          </p:nvCxnSpPr>
          <p:spPr>
            <a:xfrm>
              <a:off x="440850" y="19644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66"/>
            <p:cNvCxnSpPr/>
            <p:nvPr/>
          </p:nvCxnSpPr>
          <p:spPr>
            <a:xfrm>
              <a:off x="440850" y="254895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8" name="Google Shape;698;p66"/>
            <p:cNvCxnSpPr/>
            <p:nvPr/>
          </p:nvCxnSpPr>
          <p:spPr>
            <a:xfrm>
              <a:off x="440850" y="313342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9" name="Google Shape;699;p66"/>
            <p:cNvCxnSpPr/>
            <p:nvPr/>
          </p:nvCxnSpPr>
          <p:spPr>
            <a:xfrm>
              <a:off x="440850" y="371790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66"/>
            <p:cNvCxnSpPr/>
            <p:nvPr/>
          </p:nvCxnSpPr>
          <p:spPr>
            <a:xfrm>
              <a:off x="440850" y="43023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1" name="Google Shape;701;p66"/>
            <p:cNvCxnSpPr/>
            <p:nvPr/>
          </p:nvCxnSpPr>
          <p:spPr>
            <a:xfrm rot="-5400000">
              <a:off x="10448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2" name="Google Shape;702;p66"/>
            <p:cNvCxnSpPr/>
            <p:nvPr/>
          </p:nvCxnSpPr>
          <p:spPr>
            <a:xfrm rot="-5400000">
              <a:off x="31022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66"/>
            <p:cNvCxnSpPr/>
            <p:nvPr/>
          </p:nvCxnSpPr>
          <p:spPr>
            <a:xfrm rot="-5400000">
              <a:off x="516337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4" name="Google Shape;704;p66"/>
          <p:cNvSpPr txBox="1"/>
          <p:nvPr>
            <p:ph type="title"/>
          </p:nvPr>
        </p:nvSpPr>
        <p:spPr>
          <a:xfrm>
            <a:off x="436725" y="647516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did:</a:t>
            </a:r>
            <a:endParaRPr/>
          </a:p>
        </p:txBody>
      </p:sp>
      <p:sp>
        <p:nvSpPr>
          <p:cNvPr id="705" name="Google Shape;705;p6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706" name="Google Shape;706;p66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Jose Aguirre</a:t>
            </a:r>
            <a:endParaRPr sz="1200"/>
          </a:p>
        </p:txBody>
      </p:sp>
      <p:sp>
        <p:nvSpPr>
          <p:cNvPr id="707" name="Google Shape;707;p66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sp>
        <p:nvSpPr>
          <p:cNvPr id="708" name="Google Shape;708;p66"/>
          <p:cNvSpPr txBox="1"/>
          <p:nvPr>
            <p:ph idx="4294967295" type="subTitle"/>
          </p:nvPr>
        </p:nvSpPr>
        <p:spPr>
          <a:xfrm>
            <a:off x="24942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COMPLETED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09" name="Google Shape;709;p66"/>
          <p:cNvSpPr txBox="1"/>
          <p:nvPr>
            <p:ph idx="4294967295" type="subTitle"/>
          </p:nvPr>
        </p:nvSpPr>
        <p:spPr>
          <a:xfrm>
            <a:off x="455182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IN-PROGRESS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0" name="Google Shape;710;p66"/>
          <p:cNvSpPr txBox="1"/>
          <p:nvPr>
            <p:ph idx="4294967295" type="subTitle"/>
          </p:nvPr>
        </p:nvSpPr>
        <p:spPr>
          <a:xfrm>
            <a:off x="66093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NOT STARTED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1" name="Google Shape;711;p66"/>
          <p:cNvSpPr txBox="1"/>
          <p:nvPr>
            <p:ph idx="4294967295" type="subTitle"/>
          </p:nvPr>
        </p:nvSpPr>
        <p:spPr>
          <a:xfrm>
            <a:off x="4367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LED Circuit Design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2" name="Google Shape;712;p66"/>
          <p:cNvSpPr txBox="1"/>
          <p:nvPr>
            <p:ph idx="4294967295" type="subTitle"/>
          </p:nvPr>
        </p:nvSpPr>
        <p:spPr>
          <a:xfrm>
            <a:off x="436725" y="26771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LED Circuit Simulation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3" name="Google Shape;713;p66"/>
          <p:cNvSpPr txBox="1"/>
          <p:nvPr>
            <p:ph idx="4294967295" type="subTitle"/>
          </p:nvPr>
        </p:nvSpPr>
        <p:spPr>
          <a:xfrm>
            <a:off x="436725" y="3256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Speaker Circuit Design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4" name="Google Shape;714;p66"/>
          <p:cNvSpPr txBox="1"/>
          <p:nvPr>
            <p:ph idx="4294967295" type="subTitle"/>
          </p:nvPr>
        </p:nvSpPr>
        <p:spPr>
          <a:xfrm>
            <a:off x="436725" y="38364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Speaker Circuit Simulation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5" name="Google Shape;715;p66"/>
          <p:cNvSpPr txBox="1"/>
          <p:nvPr>
            <p:ph idx="4294967295" type="subTitle"/>
          </p:nvPr>
        </p:nvSpPr>
        <p:spPr>
          <a:xfrm>
            <a:off x="436725" y="44161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LED and Speaker Circuit Design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3443750" y="214522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7" name="Google Shape;717;p66"/>
          <p:cNvSpPr/>
          <p:nvPr/>
        </p:nvSpPr>
        <p:spPr>
          <a:xfrm>
            <a:off x="3443750" y="3292690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8" name="Google Shape;718;p66"/>
          <p:cNvSpPr txBox="1"/>
          <p:nvPr>
            <p:ph idx="4294967295" type="subTitle"/>
          </p:nvPr>
        </p:nvSpPr>
        <p:spPr>
          <a:xfrm>
            <a:off x="45518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19" name="Google Shape;719;p66"/>
          <p:cNvSpPr txBox="1"/>
          <p:nvPr>
            <p:ph idx="4294967295" type="subTitle"/>
          </p:nvPr>
        </p:nvSpPr>
        <p:spPr>
          <a:xfrm>
            <a:off x="660937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0" name="Google Shape;720;p66"/>
          <p:cNvSpPr txBox="1"/>
          <p:nvPr>
            <p:ph idx="4294967295" type="subTitle"/>
          </p:nvPr>
        </p:nvSpPr>
        <p:spPr>
          <a:xfrm>
            <a:off x="6609375" y="3836540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1" name="Google Shape;721;p66"/>
          <p:cNvSpPr txBox="1"/>
          <p:nvPr>
            <p:ph idx="4294967295" type="subTitle"/>
          </p:nvPr>
        </p:nvSpPr>
        <p:spPr>
          <a:xfrm>
            <a:off x="6609375" y="441626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2" name="Google Shape;722;p66"/>
          <p:cNvSpPr txBox="1"/>
          <p:nvPr>
            <p:ph idx="4294967295" type="subTitle"/>
          </p:nvPr>
        </p:nvSpPr>
        <p:spPr>
          <a:xfrm>
            <a:off x="2494275" y="325681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3" name="Google Shape;723;p66"/>
          <p:cNvSpPr txBox="1"/>
          <p:nvPr>
            <p:ph idx="4294967295" type="subTitle"/>
          </p:nvPr>
        </p:nvSpPr>
        <p:spPr>
          <a:xfrm>
            <a:off x="6609375" y="27010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4" name="Google Shape;724;p66"/>
          <p:cNvSpPr txBox="1"/>
          <p:nvPr>
            <p:ph idx="4294967295" type="subTitle"/>
          </p:nvPr>
        </p:nvSpPr>
        <p:spPr>
          <a:xfrm>
            <a:off x="4551825" y="27010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</a:t>
            </a:r>
            <a:r>
              <a:rPr lang="en" sz="1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2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5" name="Google Shape;725;p66"/>
          <p:cNvSpPr/>
          <p:nvPr/>
        </p:nvSpPr>
        <p:spPr>
          <a:xfrm>
            <a:off x="7529025" y="3884400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66"/>
          <p:cNvSpPr/>
          <p:nvPr/>
        </p:nvSpPr>
        <p:spPr>
          <a:xfrm>
            <a:off x="7529025" y="446397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66"/>
          <p:cNvSpPr txBox="1"/>
          <p:nvPr>
            <p:ph idx="4294967295" type="subTitle"/>
          </p:nvPr>
        </p:nvSpPr>
        <p:spPr>
          <a:xfrm>
            <a:off x="6609375" y="3304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8" name="Google Shape;728;p66"/>
          <p:cNvSpPr txBox="1"/>
          <p:nvPr>
            <p:ph idx="4294967295" type="subTitle"/>
          </p:nvPr>
        </p:nvSpPr>
        <p:spPr>
          <a:xfrm>
            <a:off x="4551825" y="3304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29" name="Google Shape;729;p66"/>
          <p:cNvSpPr txBox="1"/>
          <p:nvPr>
            <p:ph idx="4294967295" type="subTitle"/>
          </p:nvPr>
        </p:nvSpPr>
        <p:spPr>
          <a:xfrm>
            <a:off x="2494275" y="267111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30" name="Google Shape;730;p66"/>
          <p:cNvSpPr txBox="1"/>
          <p:nvPr>
            <p:ph idx="4294967295" type="subTitle"/>
          </p:nvPr>
        </p:nvSpPr>
        <p:spPr>
          <a:xfrm>
            <a:off x="4551825" y="38604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31" name="Google Shape;731;p66"/>
          <p:cNvSpPr txBox="1"/>
          <p:nvPr>
            <p:ph idx="4294967295" type="subTitle"/>
          </p:nvPr>
        </p:nvSpPr>
        <p:spPr>
          <a:xfrm>
            <a:off x="4551825" y="44162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32" name="Google Shape;732;p66"/>
          <p:cNvSpPr txBox="1"/>
          <p:nvPr>
            <p:ph idx="4294967295" type="subTitle"/>
          </p:nvPr>
        </p:nvSpPr>
        <p:spPr>
          <a:xfrm>
            <a:off x="2524100" y="38604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33" name="Google Shape;733;p66"/>
          <p:cNvSpPr txBox="1"/>
          <p:nvPr>
            <p:ph idx="4294967295" type="subTitle"/>
          </p:nvPr>
        </p:nvSpPr>
        <p:spPr>
          <a:xfrm>
            <a:off x="2494275" y="44161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7"/>
          <p:cNvSpPr txBox="1"/>
          <p:nvPr>
            <p:ph idx="6" type="body"/>
          </p:nvPr>
        </p:nvSpPr>
        <p:spPr>
          <a:xfrm>
            <a:off x="436725" y="2546775"/>
            <a:ext cx="2205300" cy="11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Complex LED’s are needed for the desired intensity.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Circuit Design programs complexity needed to simulate specific components properly.</a:t>
            </a:r>
            <a:endParaRPr/>
          </a:p>
        </p:txBody>
      </p:sp>
      <p:sp>
        <p:nvSpPr>
          <p:cNvPr id="739" name="Google Shape;739;p67"/>
          <p:cNvSpPr txBox="1"/>
          <p:nvPr>
            <p:ph idx="1" type="subTitle"/>
          </p:nvPr>
        </p:nvSpPr>
        <p:spPr>
          <a:xfrm>
            <a:off x="43672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Problems</a:t>
            </a:r>
            <a:endParaRPr/>
          </a:p>
        </p:txBody>
      </p:sp>
      <p:sp>
        <p:nvSpPr>
          <p:cNvPr id="740" name="Google Shape;740;p67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I had:</a:t>
            </a:r>
            <a:endParaRPr/>
          </a:p>
        </p:txBody>
      </p:sp>
      <p:sp>
        <p:nvSpPr>
          <p:cNvPr id="741" name="Google Shape;741;p67"/>
          <p:cNvSpPr txBox="1"/>
          <p:nvPr>
            <p:ph idx="2" type="subTitle"/>
          </p:nvPr>
        </p:nvSpPr>
        <p:spPr>
          <a:xfrm>
            <a:off x="3528026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Solutions</a:t>
            </a:r>
            <a:endParaRPr/>
          </a:p>
        </p:txBody>
      </p:sp>
      <p:sp>
        <p:nvSpPr>
          <p:cNvPr id="742" name="Google Shape;742;p67"/>
          <p:cNvSpPr txBox="1"/>
          <p:nvPr>
            <p:ph idx="3" type="subTitle"/>
          </p:nvPr>
        </p:nvSpPr>
        <p:spPr>
          <a:xfrm>
            <a:off x="646157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Projected Impact</a:t>
            </a:r>
            <a:endParaRPr/>
          </a:p>
        </p:txBody>
      </p:sp>
      <p:sp>
        <p:nvSpPr>
          <p:cNvPr id="743" name="Google Shape;743;p6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744" name="Google Shape;744;p67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Jose Aguirre</a:t>
            </a:r>
            <a:endParaRPr sz="1200"/>
          </a:p>
        </p:txBody>
      </p:sp>
      <p:sp>
        <p:nvSpPr>
          <p:cNvPr id="745" name="Google Shape;745;p67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6" name="Google Shape;746;p67"/>
          <p:cNvSpPr txBox="1"/>
          <p:nvPr>
            <p:ph idx="7" type="body"/>
          </p:nvPr>
        </p:nvSpPr>
        <p:spPr>
          <a:xfrm>
            <a:off x="3531600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Use resistors for each LED in order to </a:t>
            </a:r>
            <a:r>
              <a:rPr lang="en"/>
              <a:t>control every individual LED thru the microcontroller.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Learn PSpice to a more complex level than what I have used, or change programs.</a:t>
            </a:r>
            <a:endParaRPr/>
          </a:p>
        </p:txBody>
      </p:sp>
      <p:sp>
        <p:nvSpPr>
          <p:cNvPr id="747" name="Google Shape;747;p67"/>
          <p:cNvSpPr txBox="1"/>
          <p:nvPr>
            <p:ph idx="8" type="body"/>
          </p:nvPr>
        </p:nvSpPr>
        <p:spPr>
          <a:xfrm>
            <a:off x="6461575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Can’t properly test LED circuit before implementation without damaging the components.</a:t>
            </a:r>
            <a:endParaRPr/>
          </a:p>
        </p:txBody>
      </p:sp>
      <p:cxnSp>
        <p:nvCxnSpPr>
          <p:cNvPr id="748" name="Google Shape;748;p67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67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67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Burnt led 3-9-2010.JPG - Wikipedia" id="751" name="Google Shape;751;p67"/>
          <p:cNvPicPr preferRelativeResize="0"/>
          <p:nvPr/>
        </p:nvPicPr>
        <p:blipFill rotWithShape="1">
          <a:blip r:embed="rId3">
            <a:alphaModFix/>
          </a:blip>
          <a:srcRect b="15973" l="0" r="0" t="0"/>
          <a:stretch/>
        </p:blipFill>
        <p:spPr>
          <a:xfrm>
            <a:off x="209825" y="3696099"/>
            <a:ext cx="1050600" cy="121622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Error 404 vector icon. Isolated contour symbol illustration (Provided by Getty Images)" id="752" name="Google Shape;752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100" y="3696101"/>
            <a:ext cx="1216225" cy="12162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8"/>
          <p:cNvSpPr txBox="1"/>
          <p:nvPr>
            <p:ph idx="1" type="subTitle"/>
          </p:nvPr>
        </p:nvSpPr>
        <p:spPr>
          <a:xfrm>
            <a:off x="6587824" y="611825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Noah Schatz</a:t>
            </a:r>
            <a:endParaRPr sz="1800"/>
          </a:p>
        </p:txBody>
      </p:sp>
      <p:sp>
        <p:nvSpPr>
          <p:cNvPr id="758" name="Google Shape;758;p68"/>
          <p:cNvSpPr txBox="1"/>
          <p:nvPr>
            <p:ph type="title"/>
          </p:nvPr>
        </p:nvSpPr>
        <p:spPr>
          <a:xfrm>
            <a:off x="6587814" y="932734"/>
            <a:ext cx="2232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Control Systems and UI Engineer</a:t>
            </a:r>
            <a:endParaRPr/>
          </a:p>
        </p:txBody>
      </p:sp>
      <p:sp>
        <p:nvSpPr>
          <p:cNvPr id="759" name="Google Shape;759;p68"/>
          <p:cNvSpPr txBox="1"/>
          <p:nvPr>
            <p:ph idx="2" type="subTitle"/>
          </p:nvPr>
        </p:nvSpPr>
        <p:spPr>
          <a:xfrm>
            <a:off x="6458825" y="1560225"/>
            <a:ext cx="2361000" cy="28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Designed algorithms to regulate the sound and light patterns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Researched light strobe frequency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Experimented with different low freq patterns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Tested various sound wave shapes and frequencies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This is a summary of the biggest contributions I’ve made.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Determined ideal sound frequencies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Determined most disorienting light flicker and strobe</a:t>
            </a:r>
            <a:endParaRPr sz="1200"/>
          </a:p>
        </p:txBody>
      </p:sp>
      <p:sp>
        <p:nvSpPr>
          <p:cNvPr id="760" name="Google Shape;760;p6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1" name="Google Shape;761;p68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Noah Schatz</a:t>
            </a:r>
            <a:endParaRPr sz="1200"/>
          </a:p>
        </p:txBody>
      </p:sp>
      <p:sp>
        <p:nvSpPr>
          <p:cNvPr id="762" name="Google Shape;762;p68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cxnSp>
        <p:nvCxnSpPr>
          <p:cNvPr id="763" name="Google Shape;763;p68"/>
          <p:cNvCxnSpPr/>
          <p:nvPr/>
        </p:nvCxnSpPr>
        <p:spPr>
          <a:xfrm>
            <a:off x="6396700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64" name="Google Shape;764;p68" title="Softwar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1825"/>
            <a:ext cx="2910900" cy="2422200"/>
          </a:xfrm>
          <a:prstGeom prst="roundRect">
            <a:avLst>
              <a:gd fmla="val 10867" name="adj"/>
            </a:avLst>
          </a:prstGeom>
          <a:noFill/>
          <a:ln>
            <a:noFill/>
          </a:ln>
        </p:spPr>
      </p:pic>
      <p:pic>
        <p:nvPicPr>
          <p:cNvPr id="765" name="Google Shape;765;p68" title="Software Diagram.png"/>
          <p:cNvPicPr preferRelativeResize="0"/>
          <p:nvPr/>
        </p:nvPicPr>
        <p:blipFill rotWithShape="1">
          <a:blip r:embed="rId3">
            <a:alphaModFix/>
          </a:blip>
          <a:srcRect b="0" l="28602" r="0" t="23885"/>
          <a:stretch/>
        </p:blipFill>
        <p:spPr>
          <a:xfrm>
            <a:off x="3475588" y="2665629"/>
            <a:ext cx="2668800" cy="2367600"/>
          </a:xfrm>
          <a:prstGeom prst="roundRect">
            <a:avLst>
              <a:gd fmla="val 108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6" name="Google Shape;766;p68"/>
          <p:cNvSpPr/>
          <p:nvPr/>
        </p:nvSpPr>
        <p:spPr>
          <a:xfrm>
            <a:off x="1003775" y="1225925"/>
            <a:ext cx="2059500" cy="18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7" name="Google Shape;767;p68"/>
          <p:cNvCxnSpPr/>
          <p:nvPr/>
        </p:nvCxnSpPr>
        <p:spPr>
          <a:xfrm>
            <a:off x="1121425" y="2982450"/>
            <a:ext cx="2462400" cy="2034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68"/>
          <p:cNvCxnSpPr/>
          <p:nvPr/>
        </p:nvCxnSpPr>
        <p:spPr>
          <a:xfrm>
            <a:off x="2869550" y="1242725"/>
            <a:ext cx="3177000" cy="1445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9"/>
          <p:cNvSpPr/>
          <p:nvPr/>
        </p:nvSpPr>
        <p:spPr>
          <a:xfrm>
            <a:off x="436725" y="1650675"/>
            <a:ext cx="8230200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74" name="Google Shape;774;p69"/>
          <p:cNvGrpSpPr/>
          <p:nvPr/>
        </p:nvGrpSpPr>
        <p:grpSpPr>
          <a:xfrm>
            <a:off x="436725" y="1650675"/>
            <a:ext cx="8230200" cy="3212400"/>
            <a:chOff x="436725" y="1650675"/>
            <a:chExt cx="8230200" cy="3212400"/>
          </a:xfrm>
        </p:grpSpPr>
        <p:sp>
          <p:nvSpPr>
            <p:cNvPr id="775" name="Google Shape;775;p69"/>
            <p:cNvSpPr/>
            <p:nvPr/>
          </p:nvSpPr>
          <p:spPr>
            <a:xfrm>
              <a:off x="436725" y="1650675"/>
              <a:ext cx="8230200" cy="3212400"/>
            </a:xfrm>
            <a:prstGeom prst="rect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776" name="Google Shape;776;p69"/>
            <p:cNvCxnSpPr/>
            <p:nvPr/>
          </p:nvCxnSpPr>
          <p:spPr>
            <a:xfrm>
              <a:off x="440850" y="19644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69"/>
            <p:cNvCxnSpPr/>
            <p:nvPr/>
          </p:nvCxnSpPr>
          <p:spPr>
            <a:xfrm>
              <a:off x="440850" y="254895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69"/>
            <p:cNvCxnSpPr/>
            <p:nvPr/>
          </p:nvCxnSpPr>
          <p:spPr>
            <a:xfrm>
              <a:off x="440850" y="313342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69"/>
            <p:cNvCxnSpPr/>
            <p:nvPr/>
          </p:nvCxnSpPr>
          <p:spPr>
            <a:xfrm>
              <a:off x="440850" y="3717900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69"/>
            <p:cNvCxnSpPr/>
            <p:nvPr/>
          </p:nvCxnSpPr>
          <p:spPr>
            <a:xfrm>
              <a:off x="440850" y="4302375"/>
              <a:ext cx="8223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69"/>
            <p:cNvCxnSpPr/>
            <p:nvPr/>
          </p:nvCxnSpPr>
          <p:spPr>
            <a:xfrm rot="-5400000">
              <a:off x="10448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69"/>
            <p:cNvCxnSpPr/>
            <p:nvPr/>
          </p:nvCxnSpPr>
          <p:spPr>
            <a:xfrm rot="-5400000">
              <a:off x="310222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69"/>
            <p:cNvCxnSpPr/>
            <p:nvPr/>
          </p:nvCxnSpPr>
          <p:spPr>
            <a:xfrm rot="-5400000">
              <a:off x="5163375" y="3413650"/>
              <a:ext cx="2898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84" name="Google Shape;784;p69"/>
          <p:cNvSpPr txBox="1"/>
          <p:nvPr>
            <p:ph type="title"/>
          </p:nvPr>
        </p:nvSpPr>
        <p:spPr>
          <a:xfrm>
            <a:off x="436725" y="647516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I did:</a:t>
            </a:r>
            <a:endParaRPr/>
          </a:p>
        </p:txBody>
      </p:sp>
      <p:sp>
        <p:nvSpPr>
          <p:cNvPr id="785" name="Google Shape;785;p6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786" name="Google Shape;786;p6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Noah Schatz</a:t>
            </a:r>
            <a:endParaRPr sz="1200"/>
          </a:p>
        </p:txBody>
      </p:sp>
      <p:sp>
        <p:nvSpPr>
          <p:cNvPr id="787" name="Google Shape;787;p6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sp>
        <p:nvSpPr>
          <p:cNvPr id="788" name="Google Shape;788;p69"/>
          <p:cNvSpPr txBox="1"/>
          <p:nvPr>
            <p:ph idx="4294967295" type="subTitle"/>
          </p:nvPr>
        </p:nvSpPr>
        <p:spPr>
          <a:xfrm>
            <a:off x="24942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COMPLETED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89" name="Google Shape;789;p69"/>
          <p:cNvSpPr txBox="1"/>
          <p:nvPr>
            <p:ph idx="4294967295" type="subTitle"/>
          </p:nvPr>
        </p:nvSpPr>
        <p:spPr>
          <a:xfrm>
            <a:off x="455182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IN-PROGRESS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0" name="Google Shape;790;p69"/>
          <p:cNvSpPr txBox="1"/>
          <p:nvPr>
            <p:ph idx="4294967295" type="subTitle"/>
          </p:nvPr>
        </p:nvSpPr>
        <p:spPr>
          <a:xfrm>
            <a:off x="6609375" y="16506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NOT STARTED</a:t>
            </a:r>
            <a:endParaRPr sz="800">
              <a:solidFill>
                <a:schemeClr val="dk2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1" name="Google Shape;791;p69"/>
          <p:cNvSpPr txBox="1"/>
          <p:nvPr>
            <p:ph idx="4294967295" type="subTitle"/>
          </p:nvPr>
        </p:nvSpPr>
        <p:spPr>
          <a:xfrm>
            <a:off x="4367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Determined most effective light flickering frequency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2" name="Google Shape;792;p69"/>
          <p:cNvSpPr txBox="1"/>
          <p:nvPr>
            <p:ph idx="4294967295" type="subTitle"/>
          </p:nvPr>
        </p:nvSpPr>
        <p:spPr>
          <a:xfrm>
            <a:off x="436725" y="26771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Programmed various “random” strobe patterns to cycle through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3" name="Google Shape;793;p69"/>
          <p:cNvSpPr txBox="1"/>
          <p:nvPr>
            <p:ph idx="4294967295" type="subTitle"/>
          </p:nvPr>
        </p:nvSpPr>
        <p:spPr>
          <a:xfrm>
            <a:off x="436725" y="3256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Programmed green light cycle.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4" name="Google Shape;794;p69"/>
          <p:cNvSpPr txBox="1"/>
          <p:nvPr>
            <p:ph idx="4294967295" type="subTitle"/>
          </p:nvPr>
        </p:nvSpPr>
        <p:spPr>
          <a:xfrm>
            <a:off x="436725" y="38364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Determined ideal sound frequencies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5" name="Google Shape;795;p69"/>
          <p:cNvSpPr txBox="1"/>
          <p:nvPr>
            <p:ph idx="4294967295" type="subTitle"/>
          </p:nvPr>
        </p:nvSpPr>
        <p:spPr>
          <a:xfrm>
            <a:off x="436725" y="44161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Programming the sound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3443750" y="2145225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7529025" y="4464080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8" name="Google Shape;798;p69"/>
          <p:cNvSpPr/>
          <p:nvPr/>
        </p:nvSpPr>
        <p:spPr>
          <a:xfrm>
            <a:off x="3443750" y="3340540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99" name="Google Shape;799;p69"/>
          <p:cNvSpPr txBox="1"/>
          <p:nvPr>
            <p:ph idx="4294967295" type="subTitle"/>
          </p:nvPr>
        </p:nvSpPr>
        <p:spPr>
          <a:xfrm>
            <a:off x="455182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69"/>
          <p:cNvSpPr txBox="1"/>
          <p:nvPr>
            <p:ph idx="4294967295" type="subTitle"/>
          </p:nvPr>
        </p:nvSpPr>
        <p:spPr>
          <a:xfrm>
            <a:off x="4551825" y="26771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90% *</a:t>
            </a:r>
            <a:endParaRPr sz="12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69"/>
          <p:cNvSpPr txBox="1"/>
          <p:nvPr>
            <p:ph idx="4294967295" type="subTitle"/>
          </p:nvPr>
        </p:nvSpPr>
        <p:spPr>
          <a:xfrm>
            <a:off x="4551825" y="3256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69"/>
          <p:cNvSpPr txBox="1"/>
          <p:nvPr>
            <p:ph idx="4294967295" type="subTitle"/>
          </p:nvPr>
        </p:nvSpPr>
        <p:spPr>
          <a:xfrm>
            <a:off x="4551825" y="44162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69"/>
          <p:cNvSpPr txBox="1"/>
          <p:nvPr>
            <p:ph idx="4294967295" type="subTitle"/>
          </p:nvPr>
        </p:nvSpPr>
        <p:spPr>
          <a:xfrm>
            <a:off x="4551825" y="38365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69"/>
          <p:cNvSpPr txBox="1"/>
          <p:nvPr>
            <p:ph idx="4294967295" type="subTitle"/>
          </p:nvPr>
        </p:nvSpPr>
        <p:spPr>
          <a:xfrm>
            <a:off x="6609375" y="209742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69"/>
          <p:cNvSpPr txBox="1"/>
          <p:nvPr>
            <p:ph idx="4294967295" type="subTitle"/>
          </p:nvPr>
        </p:nvSpPr>
        <p:spPr>
          <a:xfrm>
            <a:off x="2494275" y="441611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69"/>
          <p:cNvSpPr txBox="1"/>
          <p:nvPr>
            <p:ph idx="4294967295" type="subTitle"/>
          </p:nvPr>
        </p:nvSpPr>
        <p:spPr>
          <a:xfrm>
            <a:off x="6609375" y="3836515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7" name="Google Shape;807;p69"/>
          <p:cNvSpPr txBox="1"/>
          <p:nvPr>
            <p:ph idx="4294967295" type="subTitle"/>
          </p:nvPr>
        </p:nvSpPr>
        <p:spPr>
          <a:xfrm>
            <a:off x="6609375" y="3268777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8" name="Google Shape;808;p69"/>
          <p:cNvSpPr txBox="1"/>
          <p:nvPr>
            <p:ph idx="4294967295" type="subTitle"/>
          </p:nvPr>
        </p:nvSpPr>
        <p:spPr>
          <a:xfrm>
            <a:off x="6609375" y="270105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9" name="Google Shape;809;p69"/>
          <p:cNvSpPr txBox="1"/>
          <p:nvPr>
            <p:ph idx="4294967295" type="subTitle"/>
          </p:nvPr>
        </p:nvSpPr>
        <p:spPr>
          <a:xfrm>
            <a:off x="2494275" y="2677102"/>
            <a:ext cx="2057400" cy="313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800">
              <a:solidFill>
                <a:schemeClr val="accent4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10" name="Google Shape;810;p69"/>
          <p:cNvSpPr/>
          <p:nvPr/>
        </p:nvSpPr>
        <p:spPr>
          <a:xfrm>
            <a:off x="3443750" y="3908303"/>
            <a:ext cx="218100" cy="21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1" name="Google Shape;811;p69"/>
          <p:cNvSpPr txBox="1"/>
          <p:nvPr/>
        </p:nvSpPr>
        <p:spPr>
          <a:xfrm>
            <a:off x="436725" y="4862975"/>
            <a:ext cx="3122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* </a:t>
            </a: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Needs further testing with a completed prototype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0"/>
          <p:cNvSpPr txBox="1"/>
          <p:nvPr>
            <p:ph idx="6" type="body"/>
          </p:nvPr>
        </p:nvSpPr>
        <p:spPr>
          <a:xfrm>
            <a:off x="436725" y="2546775"/>
            <a:ext cx="2379600" cy="11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No major technical errors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Changing requirements for the LED and sound </a:t>
            </a:r>
            <a:r>
              <a:rPr lang="en"/>
              <a:t>algorithms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Different number of lights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Different light functions and patterns</a:t>
            </a:r>
            <a:endParaRPr/>
          </a:p>
        </p:txBody>
      </p:sp>
      <p:sp>
        <p:nvSpPr>
          <p:cNvPr id="817" name="Google Shape;817;p70"/>
          <p:cNvSpPr txBox="1"/>
          <p:nvPr>
            <p:ph idx="1" type="subTitle"/>
          </p:nvPr>
        </p:nvSpPr>
        <p:spPr>
          <a:xfrm>
            <a:off x="43672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Problems</a:t>
            </a:r>
            <a:endParaRPr/>
          </a:p>
        </p:txBody>
      </p:sp>
      <p:sp>
        <p:nvSpPr>
          <p:cNvPr id="818" name="Google Shape;818;p70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I had:</a:t>
            </a:r>
            <a:endParaRPr/>
          </a:p>
        </p:txBody>
      </p:sp>
      <p:sp>
        <p:nvSpPr>
          <p:cNvPr id="819" name="Google Shape;819;p70"/>
          <p:cNvSpPr txBox="1"/>
          <p:nvPr>
            <p:ph idx="2" type="subTitle"/>
          </p:nvPr>
        </p:nvSpPr>
        <p:spPr>
          <a:xfrm>
            <a:off x="3528026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Solutions</a:t>
            </a:r>
            <a:endParaRPr/>
          </a:p>
        </p:txBody>
      </p:sp>
      <p:sp>
        <p:nvSpPr>
          <p:cNvPr id="820" name="Google Shape;820;p70"/>
          <p:cNvSpPr txBox="1"/>
          <p:nvPr>
            <p:ph idx="3" type="subTitle"/>
          </p:nvPr>
        </p:nvSpPr>
        <p:spPr>
          <a:xfrm>
            <a:off x="6461575" y="1946200"/>
            <a:ext cx="22053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Projected Impact</a:t>
            </a:r>
            <a:endParaRPr/>
          </a:p>
        </p:txBody>
      </p:sp>
      <p:sp>
        <p:nvSpPr>
          <p:cNvPr id="821" name="Google Shape;821;p7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2" name="Google Shape;822;p70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Noah Schatz</a:t>
            </a:r>
            <a:endParaRPr/>
          </a:p>
        </p:txBody>
      </p:sp>
      <p:sp>
        <p:nvSpPr>
          <p:cNvPr id="823" name="Google Shape;823;p70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Zeus Development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0"/>
          <p:cNvSpPr txBox="1"/>
          <p:nvPr>
            <p:ph idx="7" type="body"/>
          </p:nvPr>
        </p:nvSpPr>
        <p:spPr>
          <a:xfrm>
            <a:off x="3531600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Discussed what areas needed to be backed by our own </a:t>
            </a:r>
            <a:r>
              <a:rPr lang="en"/>
              <a:t>development</a:t>
            </a:r>
            <a:r>
              <a:rPr lang="en"/>
              <a:t> (for the sake of the course)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Set a framework of communication in terms of how adjustments and alterations would be made   </a:t>
            </a:r>
            <a:endParaRPr/>
          </a:p>
        </p:txBody>
      </p:sp>
      <p:sp>
        <p:nvSpPr>
          <p:cNvPr id="825" name="Google Shape;825;p70"/>
          <p:cNvSpPr txBox="1"/>
          <p:nvPr>
            <p:ph idx="8" type="body"/>
          </p:nvPr>
        </p:nvSpPr>
        <p:spPr>
          <a:xfrm>
            <a:off x="6461575" y="2546775"/>
            <a:ext cx="2205300" cy="236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Software development should progress fairly quickly now that the number of changes has stabilized.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majority of the work will be in testing and refinement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The remaining code shouldn’t be difficult to draft</a:t>
            </a:r>
            <a:endParaRPr/>
          </a:p>
        </p:txBody>
      </p:sp>
      <p:cxnSp>
        <p:nvCxnSpPr>
          <p:cNvPr id="826" name="Google Shape;826;p70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70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70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9" name="Google Shape;829;p70" title="Light image.jpg"/>
          <p:cNvPicPr preferRelativeResize="0"/>
          <p:nvPr/>
        </p:nvPicPr>
        <p:blipFill rotWithShape="1">
          <a:blip r:embed="rId3">
            <a:alphaModFix/>
          </a:blip>
          <a:srcRect b="-750" l="0" r="0" t="750"/>
          <a:stretch/>
        </p:blipFill>
        <p:spPr>
          <a:xfrm>
            <a:off x="1588900" y="3494688"/>
            <a:ext cx="1227426" cy="15211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0" name="Google Shape;830;p70" title="lightstuff.png"/>
          <p:cNvPicPr preferRelativeResize="0"/>
          <p:nvPr/>
        </p:nvPicPr>
        <p:blipFill rotWithShape="1">
          <a:blip r:embed="rId4">
            <a:alphaModFix/>
          </a:blip>
          <a:srcRect b="2121" l="0" r="0" t="1929"/>
          <a:stretch/>
        </p:blipFill>
        <p:spPr>
          <a:xfrm>
            <a:off x="53675" y="3333800"/>
            <a:ext cx="1216225" cy="168202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5" name="Google Shape;835;p71"/>
          <p:cNvCxnSpPr/>
          <p:nvPr/>
        </p:nvCxnSpPr>
        <p:spPr>
          <a:xfrm>
            <a:off x="4742425" y="2553350"/>
            <a:ext cx="0" cy="2590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7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837" name="Google Shape;837;p7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 sz="1200"/>
              <a:t>‹#›</a:t>
            </a:fld>
            <a:endParaRPr sz="1200"/>
          </a:p>
        </p:txBody>
      </p:sp>
      <p:sp>
        <p:nvSpPr>
          <p:cNvPr id="838" name="Google Shape;838;p7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April 10th, 2026</a:t>
            </a:r>
            <a:endParaRPr sz="1200"/>
          </a:p>
        </p:txBody>
      </p:sp>
      <p:sp>
        <p:nvSpPr>
          <p:cNvPr id="839" name="Google Shape;839;p7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 Development Group</a:t>
            </a:r>
            <a:endParaRPr sz="1200"/>
          </a:p>
        </p:txBody>
      </p:sp>
      <p:sp>
        <p:nvSpPr>
          <p:cNvPr id="840" name="Google Shape;840;p7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Any questions?</a:t>
            </a:r>
            <a:endParaRPr sz="1200"/>
          </a:p>
        </p:txBody>
      </p:sp>
      <p:sp>
        <p:nvSpPr>
          <p:cNvPr id="841" name="Google Shape;841;p7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Contact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zeusdevgroup@gmail.com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